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ading Now 71-78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38472" y="1028700"/>
            <a:ext cx="11720828" cy="8229600"/>
            <a:chOff x="0" y="0"/>
            <a:chExt cx="308696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6967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86967">
                  <a:moveTo>
                    <a:pt x="23779" y="0"/>
                  </a:moveTo>
                  <a:lnTo>
                    <a:pt x="3063188" y="0"/>
                  </a:lnTo>
                  <a:cubicBezTo>
                    <a:pt x="3076321" y="0"/>
                    <a:pt x="3086967" y="10646"/>
                    <a:pt x="3086967" y="23779"/>
                  </a:cubicBezTo>
                  <a:lnTo>
                    <a:pt x="3086967" y="2143688"/>
                  </a:lnTo>
                  <a:cubicBezTo>
                    <a:pt x="3086967" y="2156820"/>
                    <a:pt x="3076321" y="2167467"/>
                    <a:pt x="3063188" y="2167467"/>
                  </a:cubicBezTo>
                  <a:lnTo>
                    <a:pt x="23779" y="2167467"/>
                  </a:lnTo>
                  <a:cubicBezTo>
                    <a:pt x="10646" y="2167467"/>
                    <a:pt x="0" y="2156820"/>
                    <a:pt x="0" y="2143688"/>
                  </a:cubicBezTo>
                  <a:lnTo>
                    <a:pt x="0" y="23779"/>
                  </a:lnTo>
                  <a:cubicBezTo>
                    <a:pt x="0" y="10646"/>
                    <a:pt x="10646" y="0"/>
                    <a:pt x="23779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696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21941" y="1028700"/>
            <a:ext cx="1643317" cy="8229600"/>
            <a:chOff x="0" y="0"/>
            <a:chExt cx="432808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80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2808">
                  <a:moveTo>
                    <a:pt x="169602" y="0"/>
                  </a:moveTo>
                  <a:lnTo>
                    <a:pt x="263206" y="0"/>
                  </a:lnTo>
                  <a:cubicBezTo>
                    <a:pt x="356875" y="0"/>
                    <a:pt x="432808" y="75933"/>
                    <a:pt x="432808" y="169602"/>
                  </a:cubicBezTo>
                  <a:lnTo>
                    <a:pt x="432808" y="1997865"/>
                  </a:lnTo>
                  <a:cubicBezTo>
                    <a:pt x="432808" y="2091534"/>
                    <a:pt x="356875" y="2167467"/>
                    <a:pt x="263206" y="2167467"/>
                  </a:cubicBezTo>
                  <a:lnTo>
                    <a:pt x="169602" y="2167467"/>
                  </a:lnTo>
                  <a:cubicBezTo>
                    <a:pt x="124620" y="2167467"/>
                    <a:pt x="81482" y="2149598"/>
                    <a:pt x="49675" y="2117792"/>
                  </a:cubicBezTo>
                  <a:cubicBezTo>
                    <a:pt x="17869" y="2085985"/>
                    <a:pt x="0" y="2042846"/>
                    <a:pt x="0" y="1997865"/>
                  </a:cubicBezTo>
                  <a:lnTo>
                    <a:pt x="0" y="169602"/>
                  </a:lnTo>
                  <a:cubicBezTo>
                    <a:pt x="0" y="75933"/>
                    <a:pt x="75933" y="0"/>
                    <a:pt x="16960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808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9717" y="2207013"/>
            <a:ext cx="5364222" cy="4818047"/>
          </a:xfrm>
          <a:custGeom>
            <a:avLst/>
            <a:gdLst/>
            <a:ahLst/>
            <a:cxnLst/>
            <a:rect r="r" b="b" t="t" l="l"/>
            <a:pathLst>
              <a:path h="4818047" w="5364222">
                <a:moveTo>
                  <a:pt x="0" y="0"/>
                </a:moveTo>
                <a:lnTo>
                  <a:pt x="5364222" y="0"/>
                </a:lnTo>
                <a:lnTo>
                  <a:pt x="5364222" y="4818047"/>
                </a:lnTo>
                <a:lnTo>
                  <a:pt x="0" y="481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79778" y="4440253"/>
            <a:ext cx="5700769" cy="5120327"/>
          </a:xfrm>
          <a:custGeom>
            <a:avLst/>
            <a:gdLst/>
            <a:ahLst/>
            <a:cxnLst/>
            <a:rect r="r" b="b" t="t" l="l"/>
            <a:pathLst>
              <a:path h="5120327" w="5700769">
                <a:moveTo>
                  <a:pt x="0" y="0"/>
                </a:moveTo>
                <a:lnTo>
                  <a:pt x="5700769" y="0"/>
                </a:lnTo>
                <a:lnTo>
                  <a:pt x="5700769" y="5120327"/>
                </a:lnTo>
                <a:lnTo>
                  <a:pt x="0" y="512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61788" y="5431643"/>
            <a:ext cx="6416091" cy="5762816"/>
          </a:xfrm>
          <a:custGeom>
            <a:avLst/>
            <a:gdLst/>
            <a:ahLst/>
            <a:cxnLst/>
            <a:rect r="r" b="b" t="t" l="l"/>
            <a:pathLst>
              <a:path h="5762816" w="6416091">
                <a:moveTo>
                  <a:pt x="0" y="0"/>
                </a:moveTo>
                <a:lnTo>
                  <a:pt x="6416091" y="0"/>
                </a:lnTo>
                <a:lnTo>
                  <a:pt x="6416091" y="5762816"/>
                </a:lnTo>
                <a:lnTo>
                  <a:pt x="0" y="576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86439" y="596236"/>
            <a:ext cx="1227037" cy="1268554"/>
          </a:xfrm>
          <a:custGeom>
            <a:avLst/>
            <a:gdLst/>
            <a:ahLst/>
            <a:cxnLst/>
            <a:rect r="r" b="b" t="t" l="l"/>
            <a:pathLst>
              <a:path h="1268554" w="1227037">
                <a:moveTo>
                  <a:pt x="0" y="0"/>
                </a:moveTo>
                <a:lnTo>
                  <a:pt x="1227037" y="0"/>
                </a:lnTo>
                <a:lnTo>
                  <a:pt x="1227037" y="1268554"/>
                </a:lnTo>
                <a:lnTo>
                  <a:pt x="0" y="126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27695" y="1769540"/>
            <a:ext cx="11472263" cy="149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04"/>
              </a:lnSpc>
            </a:pPr>
            <a:r>
              <a:rPr lang="en-US" sz="9242" spc="-600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SmartClearance TN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38936" y="3652788"/>
            <a:ext cx="8147502" cy="231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59"/>
              </a:lnSpc>
            </a:pPr>
            <a:r>
              <a:rPr lang="en-US" sz="4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Dét</a:t>
            </a:r>
            <a:r>
              <a:rPr lang="en-US" b="true" sz="43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ection d'incohérences dans les dossiers d'importation · Défi T6 (+ T17)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61944" y="7443020"/>
            <a:ext cx="6224495" cy="97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Équip</a:t>
            </a:r>
            <a:r>
              <a:rPr lang="en-US" b="true" sz="27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:</a:t>
            </a:r>
            <a:r>
              <a:rPr lang="en-US" sz="27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The Inspectors — Yassine Ferjani · Mariem Trabelsi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2703319" cy="8229600"/>
            <a:chOff x="0" y="0"/>
            <a:chExt cx="334573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5730" cy="2167467"/>
            </a:xfrm>
            <a:custGeom>
              <a:avLst/>
              <a:gdLst/>
              <a:ahLst/>
              <a:cxnLst/>
              <a:rect r="r" b="b" t="t" l="l"/>
              <a:pathLst>
                <a:path h="2167467" w="3345730">
                  <a:moveTo>
                    <a:pt x="21940" y="0"/>
                  </a:moveTo>
                  <a:lnTo>
                    <a:pt x="3323790" y="0"/>
                  </a:lnTo>
                  <a:cubicBezTo>
                    <a:pt x="3335907" y="0"/>
                    <a:pt x="3345730" y="9823"/>
                    <a:pt x="3345730" y="21940"/>
                  </a:cubicBezTo>
                  <a:lnTo>
                    <a:pt x="3345730" y="2145527"/>
                  </a:lnTo>
                  <a:cubicBezTo>
                    <a:pt x="3345730" y="2157644"/>
                    <a:pt x="3335907" y="2167467"/>
                    <a:pt x="3323790" y="2167467"/>
                  </a:cubicBezTo>
                  <a:lnTo>
                    <a:pt x="21940" y="2167467"/>
                  </a:lnTo>
                  <a:cubicBezTo>
                    <a:pt x="9823" y="2167467"/>
                    <a:pt x="0" y="2157644"/>
                    <a:pt x="0" y="2145527"/>
                  </a:cubicBezTo>
                  <a:lnTo>
                    <a:pt x="0" y="21940"/>
                  </a:lnTo>
                  <a:cubicBezTo>
                    <a:pt x="0" y="9823"/>
                    <a:pt x="9823" y="0"/>
                    <a:pt x="21940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4573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95139" y="1028700"/>
            <a:ext cx="1643317" cy="8229600"/>
            <a:chOff x="0" y="0"/>
            <a:chExt cx="432808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80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2808">
                  <a:moveTo>
                    <a:pt x="169602" y="0"/>
                  </a:moveTo>
                  <a:lnTo>
                    <a:pt x="263206" y="0"/>
                  </a:lnTo>
                  <a:cubicBezTo>
                    <a:pt x="356875" y="0"/>
                    <a:pt x="432808" y="75933"/>
                    <a:pt x="432808" y="169602"/>
                  </a:cubicBezTo>
                  <a:lnTo>
                    <a:pt x="432808" y="1997865"/>
                  </a:lnTo>
                  <a:cubicBezTo>
                    <a:pt x="432808" y="2091534"/>
                    <a:pt x="356875" y="2167467"/>
                    <a:pt x="263206" y="2167467"/>
                  </a:cubicBezTo>
                  <a:lnTo>
                    <a:pt x="169602" y="2167467"/>
                  </a:lnTo>
                  <a:cubicBezTo>
                    <a:pt x="124620" y="2167467"/>
                    <a:pt x="81482" y="2149598"/>
                    <a:pt x="49675" y="2117792"/>
                  </a:cubicBezTo>
                  <a:cubicBezTo>
                    <a:pt x="17869" y="2085985"/>
                    <a:pt x="0" y="2042846"/>
                    <a:pt x="0" y="1997865"/>
                  </a:cubicBezTo>
                  <a:lnTo>
                    <a:pt x="0" y="169602"/>
                  </a:lnTo>
                  <a:cubicBezTo>
                    <a:pt x="0" y="75933"/>
                    <a:pt x="75933" y="0"/>
                    <a:pt x="16960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808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87961" y="3786419"/>
            <a:ext cx="6428837" cy="6241816"/>
          </a:xfrm>
          <a:custGeom>
            <a:avLst/>
            <a:gdLst/>
            <a:ahLst/>
            <a:cxnLst/>
            <a:rect r="r" b="b" t="t" l="l"/>
            <a:pathLst>
              <a:path h="6241816" w="6428837">
                <a:moveTo>
                  <a:pt x="0" y="0"/>
                </a:moveTo>
                <a:lnTo>
                  <a:pt x="6428836" y="0"/>
                </a:lnTo>
                <a:lnTo>
                  <a:pt x="6428836" y="6241816"/>
                </a:lnTo>
                <a:lnTo>
                  <a:pt x="0" y="624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2687" y="1357611"/>
            <a:ext cx="7449845" cy="171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0"/>
              </a:lnSpc>
            </a:pPr>
            <a:r>
              <a:rPr lang="en-US" sz="10600" spc="-689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Sommaire: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7024" y="3475666"/>
            <a:ext cx="8154227" cy="541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e problème traité</a:t>
            </a:r>
          </a:p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Les données utilisées</a:t>
            </a:r>
          </a:p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L'approche IA</a:t>
            </a:r>
          </a:p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Le prototype</a:t>
            </a:r>
          </a:p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L'impact attendu</a:t>
            </a:r>
          </a:p>
          <a:p>
            <a:pPr algn="l" marL="961169" indent="-480584" lvl="1">
              <a:lnSpc>
                <a:spcPts val="6232"/>
              </a:lnSpc>
              <a:buAutoNum type="arabicPeriod" startAt="1"/>
            </a:pPr>
            <a:r>
              <a:rPr lang="en-US" sz="4451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Limites et perspectives</a:t>
            </a:r>
          </a:p>
          <a:p>
            <a:pPr algn="l">
              <a:lnSpc>
                <a:spcPts val="6232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486439" y="723009"/>
            <a:ext cx="1430359" cy="1478754"/>
          </a:xfrm>
          <a:custGeom>
            <a:avLst/>
            <a:gdLst/>
            <a:ahLst/>
            <a:cxnLst/>
            <a:rect r="r" b="b" t="t" l="l"/>
            <a:pathLst>
              <a:path h="1478754" w="1430359">
                <a:moveTo>
                  <a:pt x="0" y="0"/>
                </a:moveTo>
                <a:lnTo>
                  <a:pt x="1430358" y="0"/>
                </a:lnTo>
                <a:lnTo>
                  <a:pt x="1430358" y="1478754"/>
                </a:lnTo>
                <a:lnTo>
                  <a:pt x="0" y="1478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28792" y="9351541"/>
            <a:ext cx="209530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53192" y="3740475"/>
            <a:ext cx="6497416" cy="6308400"/>
          </a:xfrm>
          <a:custGeom>
            <a:avLst/>
            <a:gdLst/>
            <a:ahLst/>
            <a:cxnLst/>
            <a:rect r="r" b="b" t="t" l="l"/>
            <a:pathLst>
              <a:path h="6308400" w="6497416">
                <a:moveTo>
                  <a:pt x="0" y="0"/>
                </a:moveTo>
                <a:lnTo>
                  <a:pt x="6497416" y="0"/>
                </a:lnTo>
                <a:lnTo>
                  <a:pt x="6497416" y="6308400"/>
                </a:lnTo>
                <a:lnTo>
                  <a:pt x="0" y="630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01900" y="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41259" y="520802"/>
            <a:ext cx="2078044" cy="2180192"/>
            <a:chOff x="0" y="0"/>
            <a:chExt cx="679245" cy="71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9245" cy="712634"/>
            </a:xfrm>
            <a:custGeom>
              <a:avLst/>
              <a:gdLst/>
              <a:ahLst/>
              <a:cxnLst/>
              <a:rect r="r" b="b" t="t" l="l"/>
              <a:pathLst>
                <a:path h="712634" w="679245">
                  <a:moveTo>
                    <a:pt x="339622" y="0"/>
                  </a:moveTo>
                  <a:cubicBezTo>
                    <a:pt x="152054" y="0"/>
                    <a:pt x="0" y="159528"/>
                    <a:pt x="0" y="356317"/>
                  </a:cubicBezTo>
                  <a:cubicBezTo>
                    <a:pt x="0" y="553105"/>
                    <a:pt x="152054" y="712634"/>
                    <a:pt x="339622" y="712634"/>
                  </a:cubicBezTo>
                  <a:cubicBezTo>
                    <a:pt x="527191" y="712634"/>
                    <a:pt x="679245" y="553105"/>
                    <a:pt x="679245" y="356317"/>
                  </a:cubicBezTo>
                  <a:cubicBezTo>
                    <a:pt x="679245" y="159528"/>
                    <a:pt x="527191" y="0"/>
                    <a:pt x="33962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679" y="28709"/>
              <a:ext cx="551886" cy="617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186074" y="965264"/>
            <a:ext cx="1117752" cy="1155571"/>
          </a:xfrm>
          <a:custGeom>
            <a:avLst/>
            <a:gdLst/>
            <a:ahLst/>
            <a:cxnLst/>
            <a:rect r="r" b="b" t="t" l="l"/>
            <a:pathLst>
              <a:path h="1155571" w="1117752">
                <a:moveTo>
                  <a:pt x="0" y="0"/>
                </a:moveTo>
                <a:lnTo>
                  <a:pt x="1117752" y="0"/>
                </a:lnTo>
                <a:lnTo>
                  <a:pt x="1117752" y="1155572"/>
                </a:lnTo>
                <a:lnTo>
                  <a:pt x="0" y="115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815109" y="8329140"/>
            <a:ext cx="1851068" cy="1957860"/>
            <a:chOff x="0" y="0"/>
            <a:chExt cx="6604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62462" y="1314450"/>
            <a:ext cx="13539438" cy="164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5601" spc="-364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 problème (1/2) : le trou dans la chaîne: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4020" y="4045853"/>
            <a:ext cx="10507160" cy="521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La DDM, l</a:t>
            </a:r>
            <a:r>
              <a:rPr lang="en-US" sz="32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e manifeste, le TCE, le DCT : normalisés en EDIFACT, lus par SINDA.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La facture, la liste de colisage, le titre de transport, le certificat d'origine : PDF ou scan. Aucun système ne les ouvre.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Le module de sélectivité IA mis en service en mai 2026 cible les déclarations à contrôler. Il ne lit pas ce qu'il y a dedans.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54020" y="3026713"/>
            <a:ext cx="14156322" cy="58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BD65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Titre : SINDA lit la déclaration. Personne ne lit les pièces jointes.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525536" y="9351541"/>
            <a:ext cx="216042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9681" y="867966"/>
            <a:ext cx="16230600" cy="8551069"/>
            <a:chOff x="0" y="0"/>
            <a:chExt cx="4274726" cy="225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52133"/>
            </a:xfrm>
            <a:custGeom>
              <a:avLst/>
              <a:gdLst/>
              <a:ahLst/>
              <a:cxnLst/>
              <a:rect r="r" b="b" t="t" l="l"/>
              <a:pathLst>
                <a:path h="2252133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234961"/>
                  </a:lnTo>
                  <a:cubicBezTo>
                    <a:pt x="4274726" y="2244445"/>
                    <a:pt x="4267038" y="2252133"/>
                    <a:pt x="4257554" y="2252133"/>
                  </a:cubicBezTo>
                  <a:lnTo>
                    <a:pt x="17172" y="2252133"/>
                  </a:lnTo>
                  <a:cubicBezTo>
                    <a:pt x="7688" y="2252133"/>
                    <a:pt x="0" y="2244445"/>
                    <a:pt x="0" y="2234961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01900" y="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41259" y="520802"/>
            <a:ext cx="2078044" cy="2180192"/>
            <a:chOff x="0" y="0"/>
            <a:chExt cx="679245" cy="712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245" cy="712634"/>
            </a:xfrm>
            <a:custGeom>
              <a:avLst/>
              <a:gdLst/>
              <a:ahLst/>
              <a:cxnLst/>
              <a:rect r="r" b="b" t="t" l="l"/>
              <a:pathLst>
                <a:path h="712634" w="679245">
                  <a:moveTo>
                    <a:pt x="339622" y="0"/>
                  </a:moveTo>
                  <a:cubicBezTo>
                    <a:pt x="152054" y="0"/>
                    <a:pt x="0" y="159528"/>
                    <a:pt x="0" y="356317"/>
                  </a:cubicBezTo>
                  <a:cubicBezTo>
                    <a:pt x="0" y="553105"/>
                    <a:pt x="152054" y="712634"/>
                    <a:pt x="339622" y="712634"/>
                  </a:cubicBezTo>
                  <a:cubicBezTo>
                    <a:pt x="527191" y="712634"/>
                    <a:pt x="679245" y="553105"/>
                    <a:pt x="679245" y="356317"/>
                  </a:cubicBezTo>
                  <a:cubicBezTo>
                    <a:pt x="679245" y="159528"/>
                    <a:pt x="527191" y="0"/>
                    <a:pt x="33962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63679" y="28709"/>
              <a:ext cx="551886" cy="617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86074" y="965264"/>
            <a:ext cx="1117752" cy="1155571"/>
          </a:xfrm>
          <a:custGeom>
            <a:avLst/>
            <a:gdLst/>
            <a:ahLst/>
            <a:cxnLst/>
            <a:rect r="r" b="b" t="t" l="l"/>
            <a:pathLst>
              <a:path h="1155571" w="1117752">
                <a:moveTo>
                  <a:pt x="0" y="0"/>
                </a:moveTo>
                <a:lnTo>
                  <a:pt x="1117752" y="0"/>
                </a:lnTo>
                <a:lnTo>
                  <a:pt x="1117752" y="1155572"/>
                </a:lnTo>
                <a:lnTo>
                  <a:pt x="0" y="115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815109" y="8329140"/>
            <a:ext cx="1851068" cy="1957860"/>
            <a:chOff x="0" y="0"/>
            <a:chExt cx="6604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19175" y="1130254"/>
            <a:ext cx="13539438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6001" spc="-390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 problème (2/2) : ce que ça coûte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2462" y="3529493"/>
            <a:ext cx="14509408" cy="384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2015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dernière estimation publiée de la sous-déclaration en Tunisie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A815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~500 M USD / an</a:t>
            </a: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fausse facturation commerciale (GAFI) 580,5 MD — saisies de la DGD en 2025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19379" y="9351541"/>
            <a:ext cx="228356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8455" y="1028700"/>
            <a:ext cx="11820845" cy="8229600"/>
            <a:chOff x="0" y="0"/>
            <a:chExt cx="311330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330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113309">
                  <a:moveTo>
                    <a:pt x="23578" y="0"/>
                  </a:moveTo>
                  <a:lnTo>
                    <a:pt x="3089731" y="0"/>
                  </a:lnTo>
                  <a:cubicBezTo>
                    <a:pt x="3095984" y="0"/>
                    <a:pt x="3101981" y="2484"/>
                    <a:pt x="3106403" y="6906"/>
                  </a:cubicBezTo>
                  <a:cubicBezTo>
                    <a:pt x="3110825" y="11327"/>
                    <a:pt x="3113309" y="17325"/>
                    <a:pt x="3113309" y="23578"/>
                  </a:cubicBezTo>
                  <a:lnTo>
                    <a:pt x="3113309" y="2143889"/>
                  </a:lnTo>
                  <a:cubicBezTo>
                    <a:pt x="3113309" y="2156911"/>
                    <a:pt x="3102753" y="2167467"/>
                    <a:pt x="3089731" y="2167467"/>
                  </a:cubicBezTo>
                  <a:lnTo>
                    <a:pt x="23578" y="2167467"/>
                  </a:lnTo>
                  <a:cubicBezTo>
                    <a:pt x="10556" y="2167467"/>
                    <a:pt x="0" y="2156911"/>
                    <a:pt x="0" y="2143889"/>
                  </a:cubicBezTo>
                  <a:lnTo>
                    <a:pt x="0" y="23578"/>
                  </a:lnTo>
                  <a:cubicBezTo>
                    <a:pt x="0" y="10556"/>
                    <a:pt x="10556" y="0"/>
                    <a:pt x="23578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1330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84959" y="2633817"/>
            <a:ext cx="7377888" cy="8083344"/>
          </a:xfrm>
          <a:custGeom>
            <a:avLst/>
            <a:gdLst/>
            <a:ahLst/>
            <a:cxnLst/>
            <a:rect r="r" b="b" t="t" l="l"/>
            <a:pathLst>
              <a:path h="8083344" w="7377888">
                <a:moveTo>
                  <a:pt x="0" y="0"/>
                </a:moveTo>
                <a:lnTo>
                  <a:pt x="7377888" y="0"/>
                </a:lnTo>
                <a:lnTo>
                  <a:pt x="7377888" y="8083344"/>
                </a:lnTo>
                <a:lnTo>
                  <a:pt x="0" y="808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95405" y="-5143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34764" y="6452"/>
            <a:ext cx="2078044" cy="2180192"/>
            <a:chOff x="0" y="0"/>
            <a:chExt cx="679245" cy="71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9245" cy="712634"/>
            </a:xfrm>
            <a:custGeom>
              <a:avLst/>
              <a:gdLst/>
              <a:ahLst/>
              <a:cxnLst/>
              <a:rect r="r" b="b" t="t" l="l"/>
              <a:pathLst>
                <a:path h="712634" w="679245">
                  <a:moveTo>
                    <a:pt x="339622" y="0"/>
                  </a:moveTo>
                  <a:cubicBezTo>
                    <a:pt x="152054" y="0"/>
                    <a:pt x="0" y="159528"/>
                    <a:pt x="0" y="356317"/>
                  </a:cubicBezTo>
                  <a:cubicBezTo>
                    <a:pt x="0" y="553105"/>
                    <a:pt x="152054" y="712634"/>
                    <a:pt x="339622" y="712634"/>
                  </a:cubicBezTo>
                  <a:cubicBezTo>
                    <a:pt x="527191" y="712634"/>
                    <a:pt x="679245" y="553105"/>
                    <a:pt x="679245" y="356317"/>
                  </a:cubicBezTo>
                  <a:cubicBezTo>
                    <a:pt x="679245" y="159528"/>
                    <a:pt x="527191" y="0"/>
                    <a:pt x="33962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679" y="28709"/>
              <a:ext cx="551886" cy="617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79579" y="450914"/>
            <a:ext cx="1117752" cy="1155571"/>
          </a:xfrm>
          <a:custGeom>
            <a:avLst/>
            <a:gdLst/>
            <a:ahLst/>
            <a:cxnLst/>
            <a:rect r="r" b="b" t="t" l="l"/>
            <a:pathLst>
              <a:path h="1155571" w="1117752">
                <a:moveTo>
                  <a:pt x="0" y="0"/>
                </a:moveTo>
                <a:lnTo>
                  <a:pt x="1117753" y="0"/>
                </a:lnTo>
                <a:lnTo>
                  <a:pt x="1117753" y="1155572"/>
                </a:lnTo>
                <a:lnTo>
                  <a:pt x="0" y="115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849686" y="7582086"/>
            <a:ext cx="2257766" cy="2388022"/>
            <a:chOff x="0" y="0"/>
            <a:chExt cx="6604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04446" y="1304925"/>
            <a:ext cx="10631103" cy="115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spc="-468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Les données utilisées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7332" y="2586192"/>
            <a:ext cx="1182084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D131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Titre : Trois sources, aucune donnée réelle de la douane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4446" y="4137873"/>
            <a:ext cx="9474123" cy="42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60 dossiers synthétiques — facture, colisage, transport, certificat, déclaration UN Comtrade — barème de prix en dollars par kilo Système Harmonisé 2022 — 5 612 positions tarifaires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514444" y="9351541"/>
            <a:ext cx="238227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2703319" cy="8229600"/>
            <a:chOff x="0" y="0"/>
            <a:chExt cx="334573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5730" cy="2167467"/>
            </a:xfrm>
            <a:custGeom>
              <a:avLst/>
              <a:gdLst/>
              <a:ahLst/>
              <a:cxnLst/>
              <a:rect r="r" b="b" t="t" l="l"/>
              <a:pathLst>
                <a:path h="2167467" w="3345730">
                  <a:moveTo>
                    <a:pt x="21940" y="0"/>
                  </a:moveTo>
                  <a:lnTo>
                    <a:pt x="3323790" y="0"/>
                  </a:lnTo>
                  <a:cubicBezTo>
                    <a:pt x="3335907" y="0"/>
                    <a:pt x="3345730" y="9823"/>
                    <a:pt x="3345730" y="21940"/>
                  </a:cubicBezTo>
                  <a:lnTo>
                    <a:pt x="3345730" y="2145527"/>
                  </a:lnTo>
                  <a:cubicBezTo>
                    <a:pt x="3345730" y="2157644"/>
                    <a:pt x="3335907" y="2167467"/>
                    <a:pt x="3323790" y="2167467"/>
                  </a:cubicBezTo>
                  <a:lnTo>
                    <a:pt x="21940" y="2167467"/>
                  </a:lnTo>
                  <a:cubicBezTo>
                    <a:pt x="9823" y="2167467"/>
                    <a:pt x="0" y="2157644"/>
                    <a:pt x="0" y="2145527"/>
                  </a:cubicBezTo>
                  <a:lnTo>
                    <a:pt x="0" y="21940"/>
                  </a:lnTo>
                  <a:cubicBezTo>
                    <a:pt x="0" y="9823"/>
                    <a:pt x="9823" y="0"/>
                    <a:pt x="21940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4573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1415332" y="3114735"/>
            <a:ext cx="5843968" cy="6682292"/>
          </a:xfrm>
          <a:custGeom>
            <a:avLst/>
            <a:gdLst/>
            <a:ahLst/>
            <a:cxnLst/>
            <a:rect r="r" b="b" t="t" l="l"/>
            <a:pathLst>
              <a:path h="6682292" w="5843968">
                <a:moveTo>
                  <a:pt x="5843968" y="0"/>
                </a:moveTo>
                <a:lnTo>
                  <a:pt x="0" y="0"/>
                </a:lnTo>
                <a:lnTo>
                  <a:pt x="0" y="6682292"/>
                </a:lnTo>
                <a:lnTo>
                  <a:pt x="5843968" y="6682292"/>
                </a:lnTo>
                <a:lnTo>
                  <a:pt x="58439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4457" y="3181330"/>
            <a:ext cx="11321749" cy="196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spc="-780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3.L’approche IA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22082" y="8164969"/>
            <a:ext cx="2257766" cy="2388022"/>
            <a:chOff x="0" y="0"/>
            <a:chExt cx="6604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17242" y="9351541"/>
            <a:ext cx="232630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4685301" cy="8229600"/>
            <a:chOff x="0" y="0"/>
            <a:chExt cx="3867734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77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3867734">
                  <a:moveTo>
                    <a:pt x="18979" y="0"/>
                  </a:moveTo>
                  <a:lnTo>
                    <a:pt x="3848755" y="0"/>
                  </a:lnTo>
                  <a:cubicBezTo>
                    <a:pt x="3859237" y="0"/>
                    <a:pt x="3867734" y="8497"/>
                    <a:pt x="3867734" y="18979"/>
                  </a:cubicBezTo>
                  <a:lnTo>
                    <a:pt x="3867734" y="2148488"/>
                  </a:lnTo>
                  <a:cubicBezTo>
                    <a:pt x="3867734" y="2158970"/>
                    <a:pt x="3859237" y="2167467"/>
                    <a:pt x="3848755" y="2167467"/>
                  </a:cubicBezTo>
                  <a:lnTo>
                    <a:pt x="18979" y="2167467"/>
                  </a:lnTo>
                  <a:cubicBezTo>
                    <a:pt x="13945" y="2167467"/>
                    <a:pt x="9118" y="2165467"/>
                    <a:pt x="5559" y="2161908"/>
                  </a:cubicBezTo>
                  <a:cubicBezTo>
                    <a:pt x="2000" y="2158349"/>
                    <a:pt x="0" y="2153521"/>
                    <a:pt x="0" y="2148488"/>
                  </a:cubicBezTo>
                  <a:lnTo>
                    <a:pt x="0" y="18979"/>
                  </a:lnTo>
                  <a:cubicBezTo>
                    <a:pt x="0" y="8497"/>
                    <a:pt x="8497" y="0"/>
                    <a:pt x="18979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6773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58847" y="1984216"/>
            <a:ext cx="4765806" cy="7919013"/>
          </a:xfrm>
          <a:custGeom>
            <a:avLst/>
            <a:gdLst/>
            <a:ahLst/>
            <a:cxnLst/>
            <a:rect r="r" b="b" t="t" l="l"/>
            <a:pathLst>
              <a:path h="7919013" w="4765806">
                <a:moveTo>
                  <a:pt x="0" y="0"/>
                </a:moveTo>
                <a:lnTo>
                  <a:pt x="4765806" y="0"/>
                </a:lnTo>
                <a:lnTo>
                  <a:pt x="4765806" y="7919013"/>
                </a:lnTo>
                <a:lnTo>
                  <a:pt x="0" y="791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0690" y="1230620"/>
            <a:ext cx="6476454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 principe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9853" y="3623892"/>
            <a:ext cx="11694319" cy="457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système ne conclut jamais à la fraude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Décision 6.1 de l'Accord de l'OMC sur l'évaluation en douane 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douane n'a pas à prouver la fraude. Elle doit motiver son doute par écrit. L'importateur justifie. L'inspecteur décide.</a:t>
            </a:r>
          </a:p>
          <a:p>
            <a:pPr algn="l">
              <a:lnSpc>
                <a:spcPts val="517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4173200" y="-84582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12559" y="-325018"/>
            <a:ext cx="2078044" cy="2180192"/>
            <a:chOff x="0" y="0"/>
            <a:chExt cx="679245" cy="712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9245" cy="712634"/>
            </a:xfrm>
            <a:custGeom>
              <a:avLst/>
              <a:gdLst/>
              <a:ahLst/>
              <a:cxnLst/>
              <a:rect r="r" b="b" t="t" l="l"/>
              <a:pathLst>
                <a:path h="712634" w="679245">
                  <a:moveTo>
                    <a:pt x="339622" y="0"/>
                  </a:moveTo>
                  <a:cubicBezTo>
                    <a:pt x="152054" y="0"/>
                    <a:pt x="0" y="159528"/>
                    <a:pt x="0" y="356317"/>
                  </a:cubicBezTo>
                  <a:cubicBezTo>
                    <a:pt x="0" y="553105"/>
                    <a:pt x="152054" y="712634"/>
                    <a:pt x="339622" y="712634"/>
                  </a:cubicBezTo>
                  <a:cubicBezTo>
                    <a:pt x="527191" y="712634"/>
                    <a:pt x="679245" y="553105"/>
                    <a:pt x="679245" y="356317"/>
                  </a:cubicBezTo>
                  <a:cubicBezTo>
                    <a:pt x="679245" y="159528"/>
                    <a:pt x="527191" y="0"/>
                    <a:pt x="33962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679" y="28709"/>
              <a:ext cx="551886" cy="617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157374" y="119444"/>
            <a:ext cx="1117752" cy="1155571"/>
          </a:xfrm>
          <a:custGeom>
            <a:avLst/>
            <a:gdLst/>
            <a:ahLst/>
            <a:cxnLst/>
            <a:rect r="r" b="b" t="t" l="l"/>
            <a:pathLst>
              <a:path h="1155571" w="1117752">
                <a:moveTo>
                  <a:pt x="0" y="0"/>
                </a:moveTo>
                <a:lnTo>
                  <a:pt x="1117752" y="0"/>
                </a:lnTo>
                <a:lnTo>
                  <a:pt x="1117752" y="1155572"/>
                </a:lnTo>
                <a:lnTo>
                  <a:pt x="0" y="115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735424" y="8389620"/>
            <a:ext cx="2257766" cy="2388022"/>
            <a:chOff x="0" y="0"/>
            <a:chExt cx="6604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06964" y="9351541"/>
            <a:ext cx="253186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2703319" cy="8229600"/>
            <a:chOff x="0" y="0"/>
            <a:chExt cx="334573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5730" cy="2167467"/>
            </a:xfrm>
            <a:custGeom>
              <a:avLst/>
              <a:gdLst/>
              <a:ahLst/>
              <a:cxnLst/>
              <a:rect r="r" b="b" t="t" l="l"/>
              <a:pathLst>
                <a:path h="2167467" w="3345730">
                  <a:moveTo>
                    <a:pt x="21940" y="0"/>
                  </a:moveTo>
                  <a:lnTo>
                    <a:pt x="3323790" y="0"/>
                  </a:lnTo>
                  <a:cubicBezTo>
                    <a:pt x="3335907" y="0"/>
                    <a:pt x="3345730" y="9823"/>
                    <a:pt x="3345730" y="21940"/>
                  </a:cubicBezTo>
                  <a:lnTo>
                    <a:pt x="3345730" y="2145527"/>
                  </a:lnTo>
                  <a:cubicBezTo>
                    <a:pt x="3345730" y="2157644"/>
                    <a:pt x="3335907" y="2167467"/>
                    <a:pt x="3323790" y="2167467"/>
                  </a:cubicBezTo>
                  <a:lnTo>
                    <a:pt x="21940" y="2167467"/>
                  </a:lnTo>
                  <a:cubicBezTo>
                    <a:pt x="9823" y="2167467"/>
                    <a:pt x="0" y="2157644"/>
                    <a:pt x="0" y="2145527"/>
                  </a:cubicBezTo>
                  <a:lnTo>
                    <a:pt x="0" y="21940"/>
                  </a:lnTo>
                  <a:cubicBezTo>
                    <a:pt x="0" y="9823"/>
                    <a:pt x="9823" y="0"/>
                    <a:pt x="21940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4573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54735" y="1028700"/>
            <a:ext cx="2547882" cy="8229600"/>
            <a:chOff x="0" y="0"/>
            <a:chExt cx="671047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1047" cy="2167467"/>
            </a:xfrm>
            <a:custGeom>
              <a:avLst/>
              <a:gdLst/>
              <a:ahLst/>
              <a:cxnLst/>
              <a:rect r="r" b="b" t="t" l="l"/>
              <a:pathLst>
                <a:path h="2167467" w="671047">
                  <a:moveTo>
                    <a:pt x="109389" y="0"/>
                  </a:moveTo>
                  <a:lnTo>
                    <a:pt x="561659" y="0"/>
                  </a:lnTo>
                  <a:cubicBezTo>
                    <a:pt x="622072" y="0"/>
                    <a:pt x="671047" y="48975"/>
                    <a:pt x="671047" y="109389"/>
                  </a:cubicBezTo>
                  <a:lnTo>
                    <a:pt x="671047" y="2058078"/>
                  </a:lnTo>
                  <a:cubicBezTo>
                    <a:pt x="671047" y="2118492"/>
                    <a:pt x="622072" y="2167467"/>
                    <a:pt x="561659" y="2167467"/>
                  </a:cubicBezTo>
                  <a:lnTo>
                    <a:pt x="109389" y="2167467"/>
                  </a:lnTo>
                  <a:cubicBezTo>
                    <a:pt x="48975" y="2167467"/>
                    <a:pt x="0" y="2118492"/>
                    <a:pt x="0" y="2058078"/>
                  </a:cubicBezTo>
                  <a:lnTo>
                    <a:pt x="0" y="109389"/>
                  </a:lnTo>
                  <a:cubicBezTo>
                    <a:pt x="0" y="48975"/>
                    <a:pt x="48975" y="0"/>
                    <a:pt x="109389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104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218968" y="2122031"/>
            <a:ext cx="9569302" cy="8229600"/>
          </a:xfrm>
          <a:custGeom>
            <a:avLst/>
            <a:gdLst/>
            <a:ahLst/>
            <a:cxnLst/>
            <a:rect r="r" b="b" t="t" l="l"/>
            <a:pathLst>
              <a:path h="8229600" w="9569302">
                <a:moveTo>
                  <a:pt x="0" y="0"/>
                </a:moveTo>
                <a:lnTo>
                  <a:pt x="9569303" y="0"/>
                </a:lnTo>
                <a:lnTo>
                  <a:pt x="95693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2687" y="1319550"/>
            <a:ext cx="12736212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Deux niveaux d'alerte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4155" y="3420289"/>
            <a:ext cx="9764420" cy="536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iveau 1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contradiction Aucune explication légitime possible .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04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Exemple : 200 pièces sur la facture, 320 sur le colisage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Niveau 2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écart à justifier Une explication légitime existe.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00" b="true">
                <a:solidFill>
                  <a:srgbClr val="D04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Exemple : prix inférieur de 70 % à la référence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522082" y="8164969"/>
            <a:ext cx="2257766" cy="2388022"/>
            <a:chOff x="0" y="0"/>
            <a:chExt cx="6604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36475" y="9351541"/>
            <a:ext cx="194163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0589" y="2046725"/>
            <a:ext cx="11959591" cy="7973061"/>
          </a:xfrm>
          <a:custGeom>
            <a:avLst/>
            <a:gdLst/>
            <a:ahLst/>
            <a:cxnLst/>
            <a:rect r="r" b="b" t="t" l="l"/>
            <a:pathLst>
              <a:path h="7973061" w="11959591">
                <a:moveTo>
                  <a:pt x="0" y="0"/>
                </a:moveTo>
                <a:lnTo>
                  <a:pt x="11959591" y="0"/>
                </a:lnTo>
                <a:lnTo>
                  <a:pt x="11959591" y="7973061"/>
                </a:lnTo>
                <a:lnTo>
                  <a:pt x="0" y="7973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79834"/>
            <a:ext cx="11321749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L'architecture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14647" y="9351541"/>
            <a:ext cx="237820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946" y="4208076"/>
            <a:ext cx="16068108" cy="5236776"/>
            <a:chOff x="0" y="0"/>
            <a:chExt cx="4231930" cy="1379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1930" cy="1379233"/>
            </a:xfrm>
            <a:custGeom>
              <a:avLst/>
              <a:gdLst/>
              <a:ahLst/>
              <a:cxnLst/>
              <a:rect r="r" b="b" t="t" l="l"/>
              <a:pathLst>
                <a:path h="1379233" w="4231930">
                  <a:moveTo>
                    <a:pt x="17345" y="0"/>
                  </a:moveTo>
                  <a:lnTo>
                    <a:pt x="4214584" y="0"/>
                  </a:lnTo>
                  <a:cubicBezTo>
                    <a:pt x="4219184" y="0"/>
                    <a:pt x="4223596" y="1827"/>
                    <a:pt x="4226849" y="5080"/>
                  </a:cubicBezTo>
                  <a:cubicBezTo>
                    <a:pt x="4230102" y="8333"/>
                    <a:pt x="4231930" y="12745"/>
                    <a:pt x="4231930" y="17345"/>
                  </a:cubicBezTo>
                  <a:lnTo>
                    <a:pt x="4231930" y="1361888"/>
                  </a:lnTo>
                  <a:cubicBezTo>
                    <a:pt x="4231930" y="1371467"/>
                    <a:pt x="4224164" y="1379233"/>
                    <a:pt x="4214584" y="1379233"/>
                  </a:cubicBezTo>
                  <a:lnTo>
                    <a:pt x="17345" y="1379233"/>
                  </a:lnTo>
                  <a:cubicBezTo>
                    <a:pt x="12745" y="1379233"/>
                    <a:pt x="8333" y="1377406"/>
                    <a:pt x="5080" y="1374153"/>
                  </a:cubicBezTo>
                  <a:cubicBezTo>
                    <a:pt x="1827" y="1370900"/>
                    <a:pt x="0" y="1366488"/>
                    <a:pt x="0" y="1361888"/>
                  </a:cubicBezTo>
                  <a:lnTo>
                    <a:pt x="0" y="17345"/>
                  </a:lnTo>
                  <a:cubicBezTo>
                    <a:pt x="0" y="12745"/>
                    <a:pt x="1827" y="8333"/>
                    <a:pt x="5080" y="5080"/>
                  </a:cubicBezTo>
                  <a:cubicBezTo>
                    <a:pt x="8333" y="1827"/>
                    <a:pt x="12745" y="0"/>
                    <a:pt x="17345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1930" cy="1417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3728464"/>
            <a:ext cx="6522763" cy="6558536"/>
          </a:xfrm>
          <a:custGeom>
            <a:avLst/>
            <a:gdLst/>
            <a:ahLst/>
            <a:cxnLst/>
            <a:rect r="r" b="b" t="t" l="l"/>
            <a:pathLst>
              <a:path h="6558536" w="6522763">
                <a:moveTo>
                  <a:pt x="0" y="0"/>
                </a:moveTo>
                <a:lnTo>
                  <a:pt x="6522763" y="0"/>
                </a:lnTo>
                <a:lnTo>
                  <a:pt x="6522763" y="6558536"/>
                </a:lnTo>
                <a:lnTo>
                  <a:pt x="0" y="655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1192" y="1373981"/>
            <a:ext cx="16068108" cy="178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0"/>
              </a:lnSpc>
            </a:pPr>
            <a:r>
              <a:rPr lang="en-US" sz="11000" spc="-71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 rôle de l'IA générative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5068" y="4594355"/>
            <a:ext cx="9011023" cy="449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8"/>
              </a:lnSpc>
            </a:pPr>
            <a:r>
              <a:rPr lang="en-US" sz="3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modèle de langage ne décide rien</a:t>
            </a:r>
          </a:p>
          <a:p>
            <a:pPr algn="just">
              <a:lnSpc>
                <a:spcPts val="4548"/>
              </a:lnSpc>
            </a:pPr>
            <a:r>
              <a:rPr lang="en-US" sz="3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 rédige l'explication destinée à l'inspecteur.</a:t>
            </a:r>
          </a:p>
          <a:p>
            <a:pPr algn="just">
              <a:lnSpc>
                <a:spcPts val="4548"/>
              </a:lnSpc>
            </a:pPr>
            <a:r>
              <a:rPr lang="en-US" sz="3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 ne calcule aucun score. Il ne crée aucune alerte. Il ne choisit aucune recommandation.</a:t>
            </a:r>
          </a:p>
          <a:p>
            <a:pPr algn="just">
              <a:lnSpc>
                <a:spcPts val="4548"/>
              </a:lnSpc>
            </a:pPr>
            <a:r>
              <a:rPr lang="en-US" sz="3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 contrôle de sortie rejette toute réponse contenant le mot « fraude » ou un chiffre absent des données.</a:t>
            </a:r>
          </a:p>
          <a:p>
            <a:pPr algn="just">
              <a:lnSpc>
                <a:spcPts val="376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547208" y="8250842"/>
            <a:ext cx="2257766" cy="2388022"/>
            <a:chOff x="0" y="0"/>
            <a:chExt cx="6604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56672" y="311798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60700" y="3570935"/>
            <a:ext cx="2078044" cy="2180192"/>
            <a:chOff x="0" y="0"/>
            <a:chExt cx="679245" cy="712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9245" cy="712634"/>
            </a:xfrm>
            <a:custGeom>
              <a:avLst/>
              <a:gdLst/>
              <a:ahLst/>
              <a:cxnLst/>
              <a:rect r="r" b="b" t="t" l="l"/>
              <a:pathLst>
                <a:path h="712634" w="679245">
                  <a:moveTo>
                    <a:pt x="339622" y="0"/>
                  </a:moveTo>
                  <a:cubicBezTo>
                    <a:pt x="152054" y="0"/>
                    <a:pt x="0" y="159528"/>
                    <a:pt x="0" y="356317"/>
                  </a:cubicBezTo>
                  <a:cubicBezTo>
                    <a:pt x="0" y="553105"/>
                    <a:pt x="152054" y="712634"/>
                    <a:pt x="339622" y="712634"/>
                  </a:cubicBezTo>
                  <a:cubicBezTo>
                    <a:pt x="527191" y="712634"/>
                    <a:pt x="679245" y="553105"/>
                    <a:pt x="679245" y="356317"/>
                  </a:cubicBezTo>
                  <a:cubicBezTo>
                    <a:pt x="679245" y="159528"/>
                    <a:pt x="527191" y="0"/>
                    <a:pt x="33962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679" y="28709"/>
              <a:ext cx="551886" cy="617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240846" y="4083245"/>
            <a:ext cx="1117752" cy="1155571"/>
          </a:xfrm>
          <a:custGeom>
            <a:avLst/>
            <a:gdLst/>
            <a:ahLst/>
            <a:cxnLst/>
            <a:rect r="r" b="b" t="t" l="l"/>
            <a:pathLst>
              <a:path h="1155571" w="1117752">
                <a:moveTo>
                  <a:pt x="0" y="0"/>
                </a:moveTo>
                <a:lnTo>
                  <a:pt x="1117752" y="0"/>
                </a:lnTo>
                <a:lnTo>
                  <a:pt x="1117752" y="1155571"/>
                </a:lnTo>
                <a:lnTo>
                  <a:pt x="0" y="1155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507066" y="9351541"/>
            <a:ext cx="252982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21306" y="2367987"/>
            <a:ext cx="4765806" cy="7919013"/>
          </a:xfrm>
          <a:custGeom>
            <a:avLst/>
            <a:gdLst/>
            <a:ahLst/>
            <a:cxnLst/>
            <a:rect r="r" b="b" t="t" l="l"/>
            <a:pathLst>
              <a:path h="7919013" w="4765806">
                <a:moveTo>
                  <a:pt x="0" y="0"/>
                </a:moveTo>
                <a:lnTo>
                  <a:pt x="4765806" y="0"/>
                </a:lnTo>
                <a:lnTo>
                  <a:pt x="4765806" y="7919013"/>
                </a:lnTo>
                <a:lnTo>
                  <a:pt x="0" y="791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4500" y="1344216"/>
            <a:ext cx="11211701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5.L'impact attendu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76713" y="3213499"/>
            <a:ext cx="11069892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que le système change: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 dossier pré-lu, avec les écarts pointés et leur preuve Une demande d'information motivée au sens de la Décision 6.1 Une trace exploitable sur chaque dossier contrôlé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 qu'il ne change pas: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L'inspecteur décide. Toujours.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146605" y="7969631"/>
            <a:ext cx="1878364" cy="1986732"/>
            <a:chOff x="0" y="0"/>
            <a:chExt cx="6604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394262" y="9351541"/>
            <a:ext cx="478591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3342" y="935424"/>
            <a:ext cx="4915958" cy="8416153"/>
            <a:chOff x="0" y="0"/>
            <a:chExt cx="1294738" cy="221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4738" cy="2216600"/>
            </a:xfrm>
            <a:custGeom>
              <a:avLst/>
              <a:gdLst/>
              <a:ahLst/>
              <a:cxnLst/>
              <a:rect r="r" b="b" t="t" l="l"/>
              <a:pathLst>
                <a:path h="2216600" w="1294738">
                  <a:moveTo>
                    <a:pt x="56695" y="0"/>
                  </a:moveTo>
                  <a:lnTo>
                    <a:pt x="1238043" y="0"/>
                  </a:lnTo>
                  <a:cubicBezTo>
                    <a:pt x="1269355" y="0"/>
                    <a:pt x="1294738" y="25383"/>
                    <a:pt x="1294738" y="56695"/>
                  </a:cubicBezTo>
                  <a:lnTo>
                    <a:pt x="1294738" y="2159905"/>
                  </a:lnTo>
                  <a:cubicBezTo>
                    <a:pt x="1294738" y="2191217"/>
                    <a:pt x="1269355" y="2216600"/>
                    <a:pt x="1238043" y="2216600"/>
                  </a:cubicBezTo>
                  <a:lnTo>
                    <a:pt x="56695" y="2216600"/>
                  </a:lnTo>
                  <a:cubicBezTo>
                    <a:pt x="25383" y="2216600"/>
                    <a:pt x="0" y="2191217"/>
                    <a:pt x="0" y="2159905"/>
                  </a:cubicBezTo>
                  <a:lnTo>
                    <a:pt x="0" y="56695"/>
                  </a:lnTo>
                  <a:cubicBezTo>
                    <a:pt x="0" y="25383"/>
                    <a:pt x="25383" y="0"/>
                    <a:pt x="56695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4738" cy="225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63610" y="8700615"/>
            <a:ext cx="2257766" cy="2388022"/>
            <a:chOff x="0" y="0"/>
            <a:chExt cx="6604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56744" y="344634"/>
            <a:ext cx="1117130" cy="1181580"/>
            <a:chOff x="0" y="0"/>
            <a:chExt cx="6604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933450"/>
            <a:ext cx="9924938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6.Les limites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667" y="2720016"/>
            <a:ext cx="11314642" cy="671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 que nos chiffr</a:t>
            </a:r>
            <a:r>
              <a:rPr lang="en-US" b="true" sz="31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ne prouvent pas: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Les dossiers de test, c'est nous qui les avons faits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Un seul générateur, six produits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Nos factures sont propres: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Des PDF nets, pas des scans avec tampons et écriture à la main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barème contient six prix: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Il en faudrait des milliers</a:t>
            </a:r>
          </a:p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L'apprentissage est livré éteint: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Démontré sur des retours que nous avons écrits nous-mêmes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56744" y="2777166"/>
            <a:ext cx="7595983" cy="5551973"/>
          </a:xfrm>
          <a:custGeom>
            <a:avLst/>
            <a:gdLst/>
            <a:ahLst/>
            <a:cxnLst/>
            <a:rect r="r" b="b" t="t" l="l"/>
            <a:pathLst>
              <a:path h="5551973" w="7595983">
                <a:moveTo>
                  <a:pt x="0" y="0"/>
                </a:moveTo>
                <a:lnTo>
                  <a:pt x="7595983" y="0"/>
                </a:lnTo>
                <a:lnTo>
                  <a:pt x="7595983" y="5551974"/>
                </a:lnTo>
                <a:lnTo>
                  <a:pt x="0" y="5551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424027" y="9351541"/>
            <a:ext cx="419059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81085"/>
            <a:ext cx="16230600" cy="2126660"/>
            <a:chOff x="0" y="0"/>
            <a:chExt cx="4274726" cy="560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560108"/>
            </a:xfrm>
            <a:custGeom>
              <a:avLst/>
              <a:gdLst/>
              <a:ahLst/>
              <a:cxnLst/>
              <a:rect r="r" b="b" t="t" l="l"/>
              <a:pathLst>
                <a:path h="560108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542936"/>
                  </a:lnTo>
                  <a:cubicBezTo>
                    <a:pt x="4274726" y="552420"/>
                    <a:pt x="4267038" y="560108"/>
                    <a:pt x="4257554" y="560108"/>
                  </a:cubicBezTo>
                  <a:lnTo>
                    <a:pt x="17172" y="560108"/>
                  </a:lnTo>
                  <a:cubicBezTo>
                    <a:pt x="7688" y="560108"/>
                    <a:pt x="0" y="552420"/>
                    <a:pt x="0" y="542936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598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293917"/>
            <a:ext cx="10364924" cy="146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spc="-58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Les perspectives: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55831" y="3428603"/>
            <a:ext cx="5174994" cy="8757682"/>
          </a:xfrm>
          <a:custGeom>
            <a:avLst/>
            <a:gdLst/>
            <a:ahLst/>
            <a:cxnLst/>
            <a:rect r="r" b="b" t="t" l="l"/>
            <a:pathLst>
              <a:path h="8757682" w="5174994">
                <a:moveTo>
                  <a:pt x="0" y="0"/>
                </a:moveTo>
                <a:lnTo>
                  <a:pt x="5174994" y="0"/>
                </a:lnTo>
                <a:lnTo>
                  <a:pt x="5174994" y="8757682"/>
                </a:lnTo>
                <a:lnTo>
                  <a:pt x="0" y="875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112419"/>
            <a:ext cx="12500266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Pour</a:t>
            </a: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 un pilote réel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Un bureau de dédouanement, couloir orange, quelques mois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Branchement sur SINDA et TTN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Intégration du tarif douanier, pour chiffrer les droits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Modèle de langage hébergé par l'administration</a:t>
            </a:r>
          </a:p>
          <a:p>
            <a:pPr algn="l" marL="755651" indent="-377825" lvl="1">
              <a:lnSpc>
                <a:spcPts val="4900"/>
              </a:lnSpc>
              <a:buAutoNum type="arabicPeriod" startAt="1"/>
            </a:pPr>
            <a:r>
              <a:rPr lang="en-US" sz="3500">
                <a:solidFill>
                  <a:srgbClr val="431C4F"/>
                </a:solidFill>
                <a:latin typeface="Canva Sans"/>
                <a:ea typeface="Canva Sans"/>
                <a:cs typeface="Canva Sans"/>
                <a:sym typeface="Canva Sans"/>
              </a:rPr>
              <a:t>Agents coûteux : imagerie, extraction par modèle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949726" y="-194532"/>
            <a:ext cx="2619148" cy="2770252"/>
            <a:chOff x="0" y="0"/>
            <a:chExt cx="6604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41300" y="228600"/>
              <a:ext cx="1651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420771" y="9351541"/>
            <a:ext cx="425572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028700"/>
            <a:ext cx="8115300" cy="3885586"/>
            <a:chOff x="0" y="0"/>
            <a:chExt cx="2137363" cy="102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1023364"/>
            </a:xfrm>
            <a:custGeom>
              <a:avLst/>
              <a:gdLst/>
              <a:ahLst/>
              <a:cxnLst/>
              <a:rect r="r" b="b" t="t" l="l"/>
              <a:pathLst>
                <a:path h="1023364" w="2137363">
                  <a:moveTo>
                    <a:pt x="34344" y="0"/>
                  </a:moveTo>
                  <a:lnTo>
                    <a:pt x="2103019" y="0"/>
                  </a:lnTo>
                  <a:cubicBezTo>
                    <a:pt x="2112128" y="0"/>
                    <a:pt x="2120863" y="3618"/>
                    <a:pt x="2127304" y="10059"/>
                  </a:cubicBezTo>
                  <a:cubicBezTo>
                    <a:pt x="2133745" y="16500"/>
                    <a:pt x="2137363" y="25235"/>
                    <a:pt x="2137363" y="34344"/>
                  </a:cubicBezTo>
                  <a:lnTo>
                    <a:pt x="2137363" y="989021"/>
                  </a:lnTo>
                  <a:cubicBezTo>
                    <a:pt x="2137363" y="998129"/>
                    <a:pt x="2133745" y="1006865"/>
                    <a:pt x="2127304" y="1013305"/>
                  </a:cubicBezTo>
                  <a:cubicBezTo>
                    <a:pt x="2120863" y="1019746"/>
                    <a:pt x="2112128" y="1023364"/>
                    <a:pt x="2103019" y="1023364"/>
                  </a:cubicBezTo>
                  <a:lnTo>
                    <a:pt x="34344" y="1023364"/>
                  </a:lnTo>
                  <a:cubicBezTo>
                    <a:pt x="25235" y="1023364"/>
                    <a:pt x="16500" y="1019746"/>
                    <a:pt x="10059" y="1013305"/>
                  </a:cubicBezTo>
                  <a:cubicBezTo>
                    <a:pt x="3618" y="1006865"/>
                    <a:pt x="0" y="998129"/>
                    <a:pt x="0" y="989021"/>
                  </a:cubicBezTo>
                  <a:lnTo>
                    <a:pt x="0" y="34344"/>
                  </a:lnTo>
                  <a:cubicBezTo>
                    <a:pt x="0" y="25235"/>
                    <a:pt x="3618" y="16500"/>
                    <a:pt x="10059" y="10059"/>
                  </a:cubicBezTo>
                  <a:cubicBezTo>
                    <a:pt x="16500" y="3618"/>
                    <a:pt x="25235" y="0"/>
                    <a:pt x="34344" y="0"/>
                  </a:cubicBezTo>
                  <a:close/>
                </a:path>
              </a:pathLst>
            </a:custGeom>
            <a:solidFill>
              <a:srgbClr val="FFE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363" cy="1061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83000" y="2597948"/>
            <a:ext cx="7005000" cy="6801218"/>
          </a:xfrm>
          <a:custGeom>
            <a:avLst/>
            <a:gdLst/>
            <a:ahLst/>
            <a:cxnLst/>
            <a:rect r="r" b="b" t="t" l="l"/>
            <a:pathLst>
              <a:path h="6801218" w="7005000">
                <a:moveTo>
                  <a:pt x="0" y="0"/>
                </a:moveTo>
                <a:lnTo>
                  <a:pt x="7005000" y="0"/>
                </a:lnTo>
                <a:lnTo>
                  <a:pt x="7005000" y="6801218"/>
                </a:lnTo>
                <a:lnTo>
                  <a:pt x="0" y="6801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805" y="8614469"/>
            <a:ext cx="643831" cy="643831"/>
          </a:xfrm>
          <a:custGeom>
            <a:avLst/>
            <a:gdLst/>
            <a:ahLst/>
            <a:cxnLst/>
            <a:rect r="r" b="b" t="t" l="l"/>
            <a:pathLst>
              <a:path h="643831" w="643831">
                <a:moveTo>
                  <a:pt x="0" y="0"/>
                </a:moveTo>
                <a:lnTo>
                  <a:pt x="643831" y="0"/>
                </a:lnTo>
                <a:lnTo>
                  <a:pt x="643831" y="643831"/>
                </a:lnTo>
                <a:lnTo>
                  <a:pt x="0" y="643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9258300"/>
            <a:ext cx="748514" cy="748514"/>
          </a:xfrm>
          <a:custGeom>
            <a:avLst/>
            <a:gdLst/>
            <a:ahLst/>
            <a:cxnLst/>
            <a:rect r="r" b="b" t="t" l="l"/>
            <a:pathLst>
              <a:path h="748514" w="748514">
                <a:moveTo>
                  <a:pt x="0" y="0"/>
                </a:moveTo>
                <a:lnTo>
                  <a:pt x="748514" y="0"/>
                </a:lnTo>
                <a:lnTo>
                  <a:pt x="748514" y="748514"/>
                </a:lnTo>
                <a:lnTo>
                  <a:pt x="0" y="748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07588"/>
            <a:ext cx="13773150" cy="324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1000" spc="-715">
                <a:solidFill>
                  <a:srgbClr val="431C4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Merci pour votre attention!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6204" y="7143847"/>
            <a:ext cx="9665874" cy="94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27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Equipe:</a:t>
            </a: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Inspectors</a:t>
            </a:r>
          </a:p>
          <a:p>
            <a:pPr algn="l">
              <a:lnSpc>
                <a:spcPts val="3841"/>
              </a:lnSpc>
              <a:spcBef>
                <a:spcPct val="0"/>
              </a:spcBef>
            </a:pPr>
            <a:r>
              <a:rPr lang="en-US" sz="27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Membres:</a:t>
            </a:r>
            <a:r>
              <a:rPr lang="en-US" sz="27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Mariem Trabelsi et Mohamed yassine Ferjani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14614" y="9351541"/>
            <a:ext cx="437885" cy="5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DAHWQvxEwP8</dc:identifier>
  <dcterms:modified xsi:type="dcterms:W3CDTF">2011-08-01T06:04:30Z</dcterms:modified>
  <cp:revision>1</cp:revision>
  <dc:title>Yellow and Purple Illustrated Supply Chain Presentation</dc:title>
</cp:coreProperties>
</file>